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Mada Heavy" panose="020B0604020202020204"/>
      <p:regular r:id="rId23"/>
    </p:embeddedFont>
    <p:embeddedFont>
      <p:font typeface="Open Sans" panose="020F0502020204030204" pitchFamily="34" charset="0"/>
      <p:regular r:id="rId24"/>
    </p:embeddedFont>
    <p:embeddedFont>
      <p:font typeface="Open Sans Bold" panose="020B0604020202020204" charset="0"/>
      <p:regular r:id="rId25"/>
    </p:embeddedFont>
    <p:embeddedFont>
      <p:font typeface="Trirong Bold" panose="020B0604020202020204" charset="-3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2438132" y="9277350"/>
            <a:ext cx="4610610" cy="0"/>
          </a:xfrm>
          <a:prstGeom prst="line">
            <a:avLst/>
          </a:prstGeom>
          <a:ln w="38100" cap="flat">
            <a:solidFill>
              <a:srgbClr val="4E5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451162" y="3747789"/>
            <a:ext cx="14305980" cy="2598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55"/>
              </a:lnSpc>
            </a:pPr>
            <a:r>
              <a:rPr lang="en-US" sz="10597" b="1" dirty="0">
                <a:solidFill>
                  <a:srgbClr val="4F594E"/>
                </a:solidFill>
                <a:latin typeface="Mada Heavy"/>
                <a:ea typeface="Mada Heavy"/>
                <a:cs typeface="Mada Heavy"/>
                <a:sym typeface="Mada Heavy"/>
              </a:rPr>
              <a:t>MOTION-BASED SMART LED LIGHTING SYSTEM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161502" y="486667"/>
            <a:ext cx="13779424" cy="1432490"/>
            <a:chOff x="0" y="0"/>
            <a:chExt cx="13954725" cy="14507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54728" cy="1450710"/>
            </a:xfrm>
            <a:custGeom>
              <a:avLst/>
              <a:gdLst/>
              <a:ahLst/>
              <a:cxnLst/>
              <a:rect l="l" t="t" r="r" b="b"/>
              <a:pathLst>
                <a:path w="13954728" h="1450710">
                  <a:moveTo>
                    <a:pt x="0" y="0"/>
                  </a:moveTo>
                  <a:lnTo>
                    <a:pt x="13954728" y="0"/>
                  </a:lnTo>
                  <a:lnTo>
                    <a:pt x="13954728" y="1450710"/>
                  </a:lnTo>
                  <a:lnTo>
                    <a:pt x="0" y="14507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58" r="26707" b="-7838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3954725" cy="14507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343"/>
                </a:lnSpc>
              </a:pPr>
              <a:endParaRPr lang="en-US" sz="3619" b="1" spc="-55" dirty="0">
                <a:solidFill>
                  <a:srgbClr val="575F6D"/>
                </a:solidFill>
                <a:latin typeface="Trirong Bold"/>
                <a:ea typeface="Trirong Bold"/>
                <a:cs typeface="Trirong Bold"/>
                <a:sym typeface="Trirong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2438132" y="9277350"/>
            <a:ext cx="4610610" cy="0"/>
          </a:xfrm>
          <a:prstGeom prst="line">
            <a:avLst/>
          </a:prstGeom>
          <a:ln w="38100" cap="flat">
            <a:solidFill>
              <a:srgbClr val="4E5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8488" y="470410"/>
            <a:ext cx="929654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sz="7500" b="1">
                <a:solidFill>
                  <a:srgbClr val="545454"/>
                </a:solidFill>
                <a:latin typeface="Mada Heavy"/>
                <a:ea typeface="Mada Heavy"/>
                <a:cs typeface="Mada Heavy"/>
                <a:sym typeface="Mada Heavy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711021"/>
            <a:ext cx="16135901" cy="8152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Rapid growth in energy consumption demands efficient utilization of electrical power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Conventional lighting systems result in significant energy wastage due to manual control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Automation using sensor-based systems provides an effective solution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proposed system uses a PIR sensor to detect human motion based on infrared radiation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microcontroller processes the sensor signal and controls the LED accordingly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system automatically switches ON the light upon motion detection and OFF after a predefined delay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Provides an energy-efficient, cost-effective, and reliable lighting solution for modern applications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endParaRPr lang="en-US" sz="3299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1256" y="-2422878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-2438132" y="9277350"/>
            <a:ext cx="4610610" cy="0"/>
          </a:xfrm>
          <a:prstGeom prst="line">
            <a:avLst/>
          </a:prstGeom>
          <a:ln w="38100" cap="flat">
            <a:solidFill>
              <a:srgbClr val="4E5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761047"/>
            <a:ext cx="17259300" cy="869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Motivation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Need for energy-efficient lighting using motion detection and ambient light sensing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Requirement of multi-level brightness control (100%, reduced, background)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Overcome issues like false triggering and inefficient energy usage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Demand for user-configurable automated lighting systems</a:t>
            </a:r>
          </a:p>
          <a:p>
            <a:pPr algn="just">
              <a:lnSpc>
                <a:spcPts val="4620"/>
              </a:lnSpc>
            </a:pPr>
            <a:r>
              <a:rPr lang="en-US" sz="3300" b="1">
                <a:solidFill>
                  <a:srgbClr val="4E58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lighting with motion + lux-based control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Street and industrial lighting with adaptive brightness levels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systems using motion-triggered illumination</a:t>
            </a:r>
          </a:p>
          <a:p>
            <a:pPr algn="just">
              <a:lnSpc>
                <a:spcPts val="4620"/>
              </a:lnSpc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Social Relevance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Reduces energy consumption using PWM-based dimming and lux control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Supports sustainable and smart infrastructure</a:t>
            </a: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Enhances user convenience and automation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3651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7540" y="-60678"/>
            <a:ext cx="888429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Aim And Objective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500" y="1927608"/>
            <a:ext cx="16329590" cy="753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study motion detection using PIR sensor and ambient light sensing using lux sensor for adaptive lighting control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design a system with multi-level brightness operation (Full, Reduced, Background) based on motion and timing logic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implement LED dimming using PWM and microcontroller-based control logic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develop a system with user-configurable parameters (brightness levels, lux threshold, delay timings T1 &amp; T2)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test and evaluate system performance based on state-based operation (OFF, FULL, REDUCED, BACKGROUND) and energy efficiency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design and implement a motion-based LED lighting system with ambient light sensing, multi-level brightness control, and user-configurable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17664509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9891" y="-60678"/>
            <a:ext cx="8324612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Literature Survey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562" y="1701316"/>
            <a:ext cx="16887883" cy="5212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[1] IEEE Xplore, Smart Motion-Based Lighting Systems for Energy Efficiency, 2020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[2] Passive Infrared (PIR) Sensor Datasheet, HC-SR501 Module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[3] Ambient Light Sensor Datasheet (LDR / BH1750 Lux Sensor)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[4] Texas Instruments, LED Driver Design and PWM Dimming Techniques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[5] Arduino Documentation, Microcontroller Programming and PWM Control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[6] IEEE Xplore, Adaptive Lighting Control Using Motion and Ambient Light Sensors, 2021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[7] Espressif Systems, ESP32 Technical Reference Manual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[8] ON Semiconductor, Constant Current LED Driver Design Guide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0562" y="6901144"/>
            <a:ext cx="15558374" cy="2887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[9] PIR Motion Sensor Datasheet (Detailed)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https://www.handsontec.com/dataspecs/SR501%20Motion%20Sensor.pdf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[10] HC-SR501 Complete Datasheet (Alt Source)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https://electronilab.co/wp-content/uploads/2013/12/HC-SR501.pdf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04298" y="-2422878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971449" y="6309118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952850" y="8064341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805276"/>
            <a:ext cx="17259300" cy="885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 Period Control Using Bluetooth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allow wireless adjustment of T1 and T2 time periods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provide remote and user-friendly control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achieve higher precision compared to manual knobs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enable real-time parameter tuning without hardware changes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Working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Bluetooth functionality is implemented using the ESP32.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mobile application sends digital time values for T1 and T2.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ESP32 receives these values wirelessly via Bluetooth.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received values are processed and mapped to internal timers.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When Bluetooth is active, the digital values override rotor knob settings.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Updated time periods are applied instantly during operation.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Screen reader content is loading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2777" y="-2422878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78210" y="1886463"/>
            <a:ext cx="15591911" cy="5889966"/>
          </a:xfrm>
          <a:custGeom>
            <a:avLst/>
            <a:gdLst/>
            <a:ahLst/>
            <a:cxnLst/>
            <a:rect l="l" t="t" r="r" b="b"/>
            <a:pathLst>
              <a:path w="15591911" h="5889966">
                <a:moveTo>
                  <a:pt x="0" y="0"/>
                </a:moveTo>
                <a:lnTo>
                  <a:pt x="15591911" y="0"/>
                </a:lnTo>
                <a:lnTo>
                  <a:pt x="15591911" y="5889966"/>
                </a:lnTo>
                <a:lnTo>
                  <a:pt x="0" y="5889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26" t="-54091" r="-4766" b="-37256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3925" y="-2422878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7351552" y="731171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5885" y="883548"/>
            <a:ext cx="16230600" cy="1050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 Period Control Using ROTOR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Used for manual adjustment of T1 and T2 time periods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Provides user control without Bluetooth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Allows quick and smooth tuning of delay values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 Period Control Using ROTOR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Working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rotor knob is a rotary potentiometer with three terminals: VCC, GND, and output.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Rotating the knob changes the internal resistance.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causes a change in the output analog voltage.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ESP32 reads this voltage using its ADC.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ADC value is mapped to time delay values for T1 or T2.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the knob is rotated, the ON and OFF delay times increase or decrease accordingly.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5880"/>
              </a:lnSpc>
              <a:spcBef>
                <a:spcPct val="0"/>
              </a:spcBef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030" y="-2242144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7114265" y="7751627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1026936"/>
            <a:ext cx="16525479" cy="862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 Period Control Using Bluetooth</a:t>
            </a:r>
          </a:p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allow wireless adjustment of T1 and T2 time periods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provide remote and user-friendly control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achieve higher precision compared to manual knobs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enable real-time parameter tuning without hardware changes</a:t>
            </a:r>
          </a:p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Working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Bluetooth functionality is implemented using the ESP32.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mobile application sends digital time values for T1 and T2.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ESP32 receives these values wirelessly via Bluetooth.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received values are processed and mapped to internal timers.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When Bluetooth is active, the digital values override rotor knob settings.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Updated time periods are applied instantly during operation.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Screen reader content is loading</a:t>
            </a:r>
          </a:p>
          <a:p>
            <a:pPr algn="l">
              <a:lnSpc>
                <a:spcPts val="2659"/>
              </a:lnSpc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057400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5369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39577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7911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9488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7060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48510" y="1026936"/>
            <a:ext cx="16230600" cy="827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LUX Control</a:t>
            </a:r>
          </a:p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detect ambient light intensity in the surroundings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ensure LED operation only in low-light conditions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reduce unnecessary power consumption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improve energy efficiency and LED lifespan</a:t>
            </a:r>
          </a:p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Working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lux sensor (LDR or digital light sensor) is used to measure ambient light.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sensor output varies according to surrounding light intensity.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ESP32 reads the sensor value using an ADC (or digital interface).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measured lux value is compared with a preset threshold.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 ambient light is below the threshold, the LED is allowed to turn ON.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 ambient light is above the threshold, the LED remains OFF even if motion is detected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2777" y="-2422878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132827" y="1103136"/>
            <a:ext cx="18131246" cy="3890131"/>
          </a:xfrm>
          <a:custGeom>
            <a:avLst/>
            <a:gdLst/>
            <a:ahLst/>
            <a:cxnLst/>
            <a:rect l="l" t="t" r="r" b="b"/>
            <a:pathLst>
              <a:path w="18131246" h="3890131">
                <a:moveTo>
                  <a:pt x="0" y="0"/>
                </a:moveTo>
                <a:lnTo>
                  <a:pt x="18131246" y="0"/>
                </a:lnTo>
                <a:lnTo>
                  <a:pt x="18131246" y="3890131"/>
                </a:lnTo>
                <a:lnTo>
                  <a:pt x="0" y="389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6000" b="-10452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17112" y="4926592"/>
            <a:ext cx="12707303" cy="405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ESP32 stays in deep sleep mode to save power.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The PIR sensor continuously monitors motion.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When motion is detected, it sends a signal to the RTC GPIO pin.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triggers an external interrupt, waking up the ESP32.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ESP32 restores operation and runs the main program</a:t>
            </a: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1256" y="-2057400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46031" y="838201"/>
            <a:ext cx="15083907" cy="4828618"/>
          </a:xfrm>
          <a:custGeom>
            <a:avLst/>
            <a:gdLst/>
            <a:ahLst/>
            <a:cxnLst/>
            <a:rect l="l" t="t" r="r" b="b"/>
            <a:pathLst>
              <a:path w="15083907" h="4828618">
                <a:moveTo>
                  <a:pt x="0" y="0"/>
                </a:moveTo>
                <a:lnTo>
                  <a:pt x="15083907" y="0"/>
                </a:lnTo>
                <a:lnTo>
                  <a:pt x="15083907" y="4828619"/>
                </a:lnTo>
                <a:lnTo>
                  <a:pt x="0" y="4828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8" r="-121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791481" y="5666820"/>
            <a:ext cx="4936023" cy="4502789"/>
          </a:xfrm>
          <a:custGeom>
            <a:avLst/>
            <a:gdLst/>
            <a:ahLst/>
            <a:cxnLst/>
            <a:rect l="l" t="t" r="r" b="b"/>
            <a:pathLst>
              <a:path w="4936023" h="4502789">
                <a:moveTo>
                  <a:pt x="0" y="0"/>
                </a:moveTo>
                <a:lnTo>
                  <a:pt x="4936023" y="0"/>
                </a:lnTo>
                <a:lnTo>
                  <a:pt x="4936023" y="4502789"/>
                </a:lnTo>
                <a:lnTo>
                  <a:pt x="0" y="4502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339554" y="5608549"/>
            <a:ext cx="5045342" cy="4561060"/>
          </a:xfrm>
          <a:custGeom>
            <a:avLst/>
            <a:gdLst/>
            <a:ahLst/>
            <a:cxnLst/>
            <a:rect l="l" t="t" r="r" b="b"/>
            <a:pathLst>
              <a:path w="5045342" h="4561060">
                <a:moveTo>
                  <a:pt x="0" y="0"/>
                </a:moveTo>
                <a:lnTo>
                  <a:pt x="5045342" y="0"/>
                </a:lnTo>
                <a:lnTo>
                  <a:pt x="5045342" y="4561060"/>
                </a:lnTo>
                <a:lnTo>
                  <a:pt x="0" y="4561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385" t="-12010" b="-1520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34998" y="-95250"/>
            <a:ext cx="7035564" cy="88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Schematic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2777" y="-275842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032999" y="327675"/>
            <a:ext cx="14382752" cy="9959325"/>
          </a:xfrm>
          <a:custGeom>
            <a:avLst/>
            <a:gdLst/>
            <a:ahLst/>
            <a:cxnLst/>
            <a:rect l="l" t="t" r="r" b="b"/>
            <a:pathLst>
              <a:path w="14382752" h="9959325">
                <a:moveTo>
                  <a:pt x="0" y="0"/>
                </a:moveTo>
                <a:lnTo>
                  <a:pt x="14382752" y="0"/>
                </a:lnTo>
                <a:lnTo>
                  <a:pt x="14382752" y="9959325"/>
                </a:lnTo>
                <a:lnTo>
                  <a:pt x="0" y="9959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7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67753" y="203850"/>
            <a:ext cx="5888117" cy="10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Block 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04396" y="6173733"/>
            <a:ext cx="5443525" cy="6169134"/>
            <a:chOff x="0" y="0"/>
            <a:chExt cx="1433686" cy="16247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9278" y="2030871"/>
            <a:ext cx="18288000" cy="579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 of Literature Review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Identified need for combined motion + lux-based control system [1][3]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systems showed false triggering and inefficient brightness control [1]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Lack of multi-level brightness and user configurability in basic systems [1]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Limitations Overcome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Implemented multi-level brightness (Full, Reduced, Background) for better efficiency [1]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Reduced false triggering using proper sensor interfacing and signal filtering [2]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Improved system using PWM-based smooth dimming control [4]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Added user-configurable parameters (T1, T2, brightness, lux threshold) [1]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2777" y="-2422878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501888" y="5534364"/>
            <a:ext cx="4694921" cy="4628992"/>
          </a:xfrm>
          <a:custGeom>
            <a:avLst/>
            <a:gdLst/>
            <a:ahLst/>
            <a:cxnLst/>
            <a:rect l="l" t="t" r="r" b="b"/>
            <a:pathLst>
              <a:path w="4694921" h="4628992">
                <a:moveTo>
                  <a:pt x="0" y="0"/>
                </a:moveTo>
                <a:lnTo>
                  <a:pt x="4694921" y="0"/>
                </a:lnTo>
                <a:lnTo>
                  <a:pt x="4694921" y="4628992"/>
                </a:lnTo>
                <a:lnTo>
                  <a:pt x="0" y="4628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93" t="-11939" r="-8240" b="-561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501888" y="663222"/>
            <a:ext cx="4694921" cy="4688436"/>
          </a:xfrm>
          <a:custGeom>
            <a:avLst/>
            <a:gdLst/>
            <a:ahLst/>
            <a:cxnLst/>
            <a:rect l="l" t="t" r="r" b="b"/>
            <a:pathLst>
              <a:path w="4694921" h="4688436">
                <a:moveTo>
                  <a:pt x="0" y="0"/>
                </a:moveTo>
                <a:lnTo>
                  <a:pt x="4694921" y="0"/>
                </a:lnTo>
                <a:lnTo>
                  <a:pt x="4694921" y="4688436"/>
                </a:lnTo>
                <a:lnTo>
                  <a:pt x="0" y="4688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00760" y="767301"/>
            <a:ext cx="5115446" cy="4480278"/>
          </a:xfrm>
          <a:custGeom>
            <a:avLst/>
            <a:gdLst/>
            <a:ahLst/>
            <a:cxnLst/>
            <a:rect l="l" t="t" r="r" b="b"/>
            <a:pathLst>
              <a:path w="5115446" h="4480278">
                <a:moveTo>
                  <a:pt x="0" y="0"/>
                </a:moveTo>
                <a:lnTo>
                  <a:pt x="5115445" y="0"/>
                </a:lnTo>
                <a:lnTo>
                  <a:pt x="5115445" y="4480278"/>
                </a:lnTo>
                <a:lnTo>
                  <a:pt x="0" y="4480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54" r="-1047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611287" y="5352354"/>
            <a:ext cx="4355245" cy="4505387"/>
          </a:xfrm>
          <a:custGeom>
            <a:avLst/>
            <a:gdLst/>
            <a:ahLst/>
            <a:cxnLst/>
            <a:rect l="l" t="t" r="r" b="b"/>
            <a:pathLst>
              <a:path w="4355245" h="4505387">
                <a:moveTo>
                  <a:pt x="0" y="0"/>
                </a:moveTo>
                <a:lnTo>
                  <a:pt x="4355245" y="0"/>
                </a:lnTo>
                <a:lnTo>
                  <a:pt x="4355245" y="4505387"/>
                </a:lnTo>
                <a:lnTo>
                  <a:pt x="0" y="4505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311" t="-43481" r="-15222" b="-2504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44333" y="-27721"/>
            <a:ext cx="3610689" cy="79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PCB Designs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82716" y="-41628"/>
            <a:ext cx="8961284" cy="119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07"/>
              </a:lnSpc>
              <a:spcBef>
                <a:spcPct val="0"/>
              </a:spcBef>
            </a:pPr>
            <a:r>
              <a:rPr lang="en-US" sz="6933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&amp; Debugging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5885" y="1636431"/>
            <a:ext cx="18014277" cy="576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Observed issues during testing: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 triggering due to environmental noise [2]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Incorrect brightness transitions [4]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Delay mismatch in timing (T1, T2) [1]</a:t>
            </a:r>
          </a:p>
          <a:p>
            <a:pPr algn="l">
              <a:lnSpc>
                <a:spcPts val="5118"/>
              </a:lnSpc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Corrections Implemented: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Adjusted PIR sensitivity and delay settings [2]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Optimized PWM signal for smooth dimming [4]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Calibrated lux threshold for accurate ambient sensing [3]</a:t>
            </a:r>
          </a:p>
          <a:p>
            <a:pPr marL="789380" lvl="1" indent="-394690" algn="l">
              <a:lnSpc>
                <a:spcPts val="5118"/>
              </a:lnSpc>
              <a:buFont typeface="Arial"/>
              <a:buChar char="•"/>
            </a:pPr>
            <a:r>
              <a:rPr lang="en-US" sz="3656" b="1">
                <a:solidFill>
                  <a:srgbClr val="4F59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Verified state transitions (FULL → REDUCED → BACKGROUND) [1]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701867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543951" y="8516282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58429" y="1476375"/>
            <a:ext cx="16971141" cy="811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PIR Motion Sensor (HC-SR501) [2]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Ambient Light Sensor (LDR / Lux Sensor) [3]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Microcontroller (Arduino / ESP32) [5]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LED with constant current driver [4]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Resistors, power supply, connecting wires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IR receiver module (for user control – optional) [1]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Optional: LDR(Ambient light control)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Microcontroller (ESP32)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LED &amp; Driver Electronics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Power LED (9W)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LED Constant Current Driver(300mA–700mA)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PWM Dimming Interface (MCU → Driver)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Resistors, capacitors, connectors, headers</a:t>
            </a:r>
          </a:p>
          <a:p>
            <a:pPr algn="l">
              <a:lnSpc>
                <a:spcPts val="4620"/>
              </a:lnSpc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1878111" y="1234722"/>
            <a:ext cx="5668790" cy="7583664"/>
          </a:xfrm>
          <a:custGeom>
            <a:avLst/>
            <a:gdLst/>
            <a:ahLst/>
            <a:cxnLst/>
            <a:rect l="l" t="t" r="r" b="b"/>
            <a:pathLst>
              <a:path w="5668790" h="7583664">
                <a:moveTo>
                  <a:pt x="0" y="0"/>
                </a:moveTo>
                <a:lnTo>
                  <a:pt x="5668790" y="0"/>
                </a:lnTo>
                <a:lnTo>
                  <a:pt x="5668790" y="7583664"/>
                </a:lnTo>
                <a:lnTo>
                  <a:pt x="0" y="7583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97" b="-609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-60678"/>
            <a:ext cx="483929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Resources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17478664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69422" y="1701306"/>
            <a:ext cx="17549156" cy="711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endParaRPr/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Integration with IoT for remote monitoring and real-time control of lighting parameters [5]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Implementation of AI/ML algorithms for adaptive brightness based on usage patterns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of advanced motion sensors (microwave/mmWave) for higher accuracy and reduced false triggering [1]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Development of self-learning systems to automatically adjust lux threshold and delay timings (T1, T2) [1]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Integration with smart home systems (centralized automation platforms)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of solar-powered LED systems for energy-efficient standalone operation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Enhancement with wireless communication (Wi-Fi/Bluetooth) for user control [5]</a:t>
            </a: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Expansion for smart street lighting with network-based centralized control [1]</a:t>
            </a:r>
          </a:p>
          <a:p>
            <a:pPr algn="l">
              <a:lnSpc>
                <a:spcPts val="4620"/>
              </a:lnSpc>
            </a:pPr>
            <a:endParaRPr lang="en-US" sz="31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-60678"/>
            <a:ext cx="6200656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Scope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9735" y="-1596515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91465" y="6014116"/>
            <a:ext cx="5443525" cy="6169134"/>
            <a:chOff x="0" y="0"/>
            <a:chExt cx="1433686" cy="16247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-60678"/>
            <a:ext cx="5208984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3976" y="2030871"/>
            <a:ext cx="19283476" cy="579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literature shows that conventional PIR lighting systems lack dimming, suffer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flicker, and are less efficient. Using an efficient SMPS-based LED driver with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smooth, low-flicker dimming and intelligent control can significantly improve energy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efficiency and lighting quality.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330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Literature is that abrupt ON/OFF switching in conventional systems causes sudden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changes in illumination, which can be uncomfortable for users. Gradual dimming and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soft-start techniques are recommended to improve visual comfort. Intelligent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 also helps reduce unnecessary power consumption during idle periods. This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approach supports longer LED life and better overall system reliability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1903" y="-1543050"/>
            <a:ext cx="10615448" cy="3086100"/>
            <a:chOff x="0" y="0"/>
            <a:chExt cx="279583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5838" cy="812800"/>
            </a:xfrm>
            <a:custGeom>
              <a:avLst/>
              <a:gdLst/>
              <a:ahLst/>
              <a:cxnLst/>
              <a:rect l="l" t="t" r="r" b="b"/>
              <a:pathLst>
                <a:path w="2795838" h="812800">
                  <a:moveTo>
                    <a:pt x="0" y="0"/>
                  </a:moveTo>
                  <a:lnTo>
                    <a:pt x="2795838" y="0"/>
                  </a:lnTo>
                  <a:lnTo>
                    <a:pt x="27958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958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-572741" y="6416723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4414825" y="8473240"/>
            <a:ext cx="5443525" cy="6169134"/>
            <a:chOff x="0" y="0"/>
            <a:chExt cx="1433686" cy="1624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60060" y="6173733"/>
            <a:ext cx="5443525" cy="6169134"/>
            <a:chOff x="0" y="0"/>
            <a:chExt cx="1433686" cy="162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3686" cy="1624793"/>
            </a:xfrm>
            <a:custGeom>
              <a:avLst/>
              <a:gdLst/>
              <a:ahLst/>
              <a:cxnLst/>
              <a:rect l="l" t="t" r="r" b="b"/>
              <a:pathLst>
                <a:path w="1433686" h="1624793">
                  <a:moveTo>
                    <a:pt x="0" y="0"/>
                  </a:moveTo>
                  <a:lnTo>
                    <a:pt x="1433686" y="0"/>
                  </a:lnTo>
                  <a:lnTo>
                    <a:pt x="1433686" y="1624793"/>
                  </a:lnTo>
                  <a:lnTo>
                    <a:pt x="0" y="1624793"/>
                  </a:lnTo>
                  <a:close/>
                </a:path>
              </a:pathLst>
            </a:custGeom>
            <a:solidFill>
              <a:srgbClr val="A9B3A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3686" cy="166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>
            <a:off x="16975837" y="7656859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8" y="0"/>
                </a:lnTo>
                <a:lnTo>
                  <a:pt x="879828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7351552" y="-58391"/>
            <a:ext cx="879828" cy="2323054"/>
          </a:xfrm>
          <a:custGeom>
            <a:avLst/>
            <a:gdLst/>
            <a:ahLst/>
            <a:cxnLst/>
            <a:rect l="l" t="t" r="r" b="b"/>
            <a:pathLst>
              <a:path w="879828" h="2323054">
                <a:moveTo>
                  <a:pt x="0" y="0"/>
                </a:moveTo>
                <a:lnTo>
                  <a:pt x="879827" y="0"/>
                </a:lnTo>
                <a:lnTo>
                  <a:pt x="879827" y="2323054"/>
                </a:lnTo>
                <a:lnTo>
                  <a:pt x="0" y="2323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71856" y="3041497"/>
            <a:ext cx="12917196" cy="290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45"/>
              </a:lnSpc>
              <a:spcBef>
                <a:spcPct val="0"/>
              </a:spcBef>
            </a:pPr>
            <a:r>
              <a:rPr lang="en-US" sz="17103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1457</Words>
  <Application>Microsoft Office PowerPoint</Application>
  <PresentationFormat>Custom</PresentationFormat>
  <Paragraphs>160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Open Sans Bold</vt:lpstr>
      <vt:lpstr>Mada Heavy</vt:lpstr>
      <vt:lpstr>Calibri</vt:lpstr>
      <vt:lpstr>Open Sans</vt:lpstr>
      <vt:lpstr>Trirong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Motion-Based Smart LED Lighting System</dc:title>
  <dc:creator>PAYAL CHANDOBA</dc:creator>
  <cp:lastModifiedBy>PAYAL CHANDOBA</cp:lastModifiedBy>
  <cp:revision>2</cp:revision>
  <dcterms:created xsi:type="dcterms:W3CDTF">2006-08-16T00:00:00Z</dcterms:created>
  <dcterms:modified xsi:type="dcterms:W3CDTF">2026-07-20T06:12:27Z</dcterms:modified>
  <dc:identifier>DAHGGUDrt-8</dc:identifier>
</cp:coreProperties>
</file>